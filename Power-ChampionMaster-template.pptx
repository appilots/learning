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1C054D-5DBB-4BDF-990D-99B03FA233A8}" v="3" dt="2026-08-20T05:24:42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 SAIJAM/ATA" userId="e0b59197-ab0a-42b7-98d9-fe9d9b9c7fca" providerId="ADAL" clId="{398B6131-9C7A-4559-BFDF-D6488C638C2A}"/>
    <pc:docChg chg="custSel addSld delSld modSld sldOrd">
      <pc:chgData name="SANTI SAIJAM/ATA" userId="e0b59197-ab0a-42b7-98d9-fe9d9b9c7fca" providerId="ADAL" clId="{398B6131-9C7A-4559-BFDF-D6488C638C2A}" dt="2026-08-20T05:27:26.891" v="115" actId="207"/>
      <pc:docMkLst>
        <pc:docMk/>
      </pc:docMkLst>
      <pc:sldChg chg="addSp modSp mod">
        <pc:chgData name="SANTI SAIJAM/ATA" userId="e0b59197-ab0a-42b7-98d9-fe9d9b9c7fca" providerId="ADAL" clId="{398B6131-9C7A-4559-BFDF-D6488C638C2A}" dt="2026-08-20T05:27:26.891" v="115" actId="207"/>
        <pc:sldMkLst>
          <pc:docMk/>
          <pc:sldMk cId="0" sldId="259"/>
        </pc:sldMkLst>
        <pc:spChg chg="mod">
          <ac:chgData name="SANTI SAIJAM/ATA" userId="e0b59197-ab0a-42b7-98d9-fe9d9b9c7fca" providerId="ADAL" clId="{398B6131-9C7A-4559-BFDF-D6488C638C2A}" dt="2026-08-20T05:26:15.627" v="82" actId="14100"/>
          <ac:spMkLst>
            <pc:docMk/>
            <pc:sldMk cId="0" sldId="259"/>
            <ac:spMk id="23" creationId="{00000000-0000-0000-0000-000000000000}"/>
          </ac:spMkLst>
        </pc:spChg>
        <pc:spChg chg="add mod">
          <ac:chgData name="SANTI SAIJAM/ATA" userId="e0b59197-ab0a-42b7-98d9-fe9d9b9c7fca" providerId="ADAL" clId="{398B6131-9C7A-4559-BFDF-D6488C638C2A}" dt="2026-08-20T05:27:23.318" v="114" actId="207"/>
          <ac:spMkLst>
            <pc:docMk/>
            <pc:sldMk cId="0" sldId="259"/>
            <ac:spMk id="40" creationId="{37875329-2FB7-5EF0-D44F-915CFD7E01D9}"/>
          </ac:spMkLst>
        </pc:spChg>
        <pc:spChg chg="add mod">
          <ac:chgData name="SANTI SAIJAM/ATA" userId="e0b59197-ab0a-42b7-98d9-fe9d9b9c7fca" providerId="ADAL" clId="{398B6131-9C7A-4559-BFDF-D6488C638C2A}" dt="2026-08-20T05:27:26.891" v="115" actId="207"/>
          <ac:spMkLst>
            <pc:docMk/>
            <pc:sldMk cId="0" sldId="259"/>
            <ac:spMk id="42" creationId="{D16F02F8-3AD9-9C23-F7F5-8E7742D47AB1}"/>
          </ac:spMkLst>
        </pc:spChg>
      </pc:sldChg>
      <pc:sldChg chg="del">
        <pc:chgData name="SANTI SAIJAM/ATA" userId="e0b59197-ab0a-42b7-98d9-fe9d9b9c7fca" providerId="ADAL" clId="{398B6131-9C7A-4559-BFDF-D6488C638C2A}" dt="2026-08-20T05:25:08.259" v="77" actId="47"/>
        <pc:sldMkLst>
          <pc:docMk/>
          <pc:sldMk cId="0" sldId="262"/>
        </pc:sldMkLst>
      </pc:sldChg>
      <pc:sldChg chg="addSp modSp new mod ord">
        <pc:chgData name="SANTI SAIJAM/ATA" userId="e0b59197-ab0a-42b7-98d9-fe9d9b9c7fca" providerId="ADAL" clId="{398B6131-9C7A-4559-BFDF-D6488C638C2A}" dt="2026-08-20T05:24:45.311" v="73" actId="122"/>
        <pc:sldMkLst>
          <pc:docMk/>
          <pc:sldMk cId="1062575583" sldId="263"/>
        </pc:sldMkLst>
        <pc:spChg chg="add mod">
          <ac:chgData name="SANTI SAIJAM/ATA" userId="e0b59197-ab0a-42b7-98d9-fe9d9b9c7fca" providerId="ADAL" clId="{398B6131-9C7A-4559-BFDF-D6488C638C2A}" dt="2026-08-20T05:23:34.466" v="43" actId="20577"/>
          <ac:spMkLst>
            <pc:docMk/>
            <pc:sldMk cId="1062575583" sldId="263"/>
            <ac:spMk id="2" creationId="{3F64379D-3048-A9B8-CC34-5AAF52D0DA85}"/>
          </ac:spMkLst>
        </pc:spChg>
        <pc:spChg chg="add mod">
          <ac:chgData name="SANTI SAIJAM/ATA" userId="e0b59197-ab0a-42b7-98d9-fe9d9b9c7fca" providerId="ADAL" clId="{398B6131-9C7A-4559-BFDF-D6488C638C2A}" dt="2026-08-20T05:24:45.311" v="73" actId="122"/>
          <ac:spMkLst>
            <pc:docMk/>
            <pc:sldMk cId="1062575583" sldId="263"/>
            <ac:spMk id="3" creationId="{406DD332-BDBC-7280-264B-9B45DFF66036}"/>
          </ac:spMkLst>
        </pc:spChg>
      </pc:sldChg>
      <pc:sldChg chg="modSp add mod ord">
        <pc:chgData name="SANTI SAIJAM/ATA" userId="e0b59197-ab0a-42b7-98d9-fe9d9b9c7fca" providerId="ADAL" clId="{398B6131-9C7A-4559-BFDF-D6488C638C2A}" dt="2026-08-20T05:25:13.717" v="80" actId="20577"/>
        <pc:sldMkLst>
          <pc:docMk/>
          <pc:sldMk cId="2412887385" sldId="264"/>
        </pc:sldMkLst>
        <pc:spChg chg="mod">
          <ac:chgData name="SANTI SAIJAM/ATA" userId="e0b59197-ab0a-42b7-98d9-fe9d9b9c7fca" providerId="ADAL" clId="{398B6131-9C7A-4559-BFDF-D6488C638C2A}" dt="2026-08-20T05:25:13.717" v="80" actId="20577"/>
          <ac:spMkLst>
            <pc:docMk/>
            <pc:sldMk cId="2412887385" sldId="264"/>
            <ac:spMk id="2" creationId="{77924129-4ACD-AADA-31C9-89D66DA79F8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3.png"/><Relationship Id="rId18" Type="http://schemas.openxmlformats.org/officeDocument/2006/relationships/image" Target="../media/image27.png"/><Relationship Id="rId3" Type="http://schemas.openxmlformats.org/officeDocument/2006/relationships/image" Target="../media/image2.png"/><Relationship Id="rId21" Type="http://schemas.openxmlformats.org/officeDocument/2006/relationships/image" Target="../media/image30.png"/><Relationship Id="rId7" Type="http://schemas.openxmlformats.org/officeDocument/2006/relationships/image" Target="../media/image20.png"/><Relationship Id="rId12" Type="http://schemas.openxmlformats.org/officeDocument/2006/relationships/image" Target="../media/image12.png"/><Relationship Id="rId17" Type="http://schemas.openxmlformats.org/officeDocument/2006/relationships/image" Target="../media/image26.png"/><Relationship Id="rId2" Type="http://schemas.openxmlformats.org/officeDocument/2006/relationships/image" Target="../media/image17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11.png"/><Relationship Id="rId24" Type="http://schemas.openxmlformats.org/officeDocument/2006/relationships/image" Target="../media/image33.png"/><Relationship Id="rId5" Type="http://schemas.openxmlformats.org/officeDocument/2006/relationships/image" Target="../media/image5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23.png"/><Relationship Id="rId19" Type="http://schemas.openxmlformats.org/officeDocument/2006/relationships/image" Target="../media/image28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15.png"/><Relationship Id="rId22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15.png"/><Relationship Id="rId18" Type="http://schemas.openxmlformats.org/officeDocument/2006/relationships/image" Target="../media/image42.png"/><Relationship Id="rId3" Type="http://schemas.openxmlformats.org/officeDocument/2006/relationships/image" Target="../media/image2.png"/><Relationship Id="rId21" Type="http://schemas.openxmlformats.org/officeDocument/2006/relationships/image" Target="../media/image45.png"/><Relationship Id="rId7" Type="http://schemas.openxmlformats.org/officeDocument/2006/relationships/image" Target="../media/image36.png"/><Relationship Id="rId12" Type="http://schemas.openxmlformats.org/officeDocument/2006/relationships/image" Target="../media/image38.png"/><Relationship Id="rId17" Type="http://schemas.openxmlformats.org/officeDocument/2006/relationships/image" Target="../media/image41.png"/><Relationship Id="rId2" Type="http://schemas.openxmlformats.org/officeDocument/2006/relationships/image" Target="../media/image34.pn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13.png"/><Relationship Id="rId5" Type="http://schemas.openxmlformats.org/officeDocument/2006/relationships/image" Target="../media/image5.png"/><Relationship Id="rId15" Type="http://schemas.openxmlformats.org/officeDocument/2006/relationships/image" Target="../media/image24.png"/><Relationship Id="rId23" Type="http://schemas.openxmlformats.org/officeDocument/2006/relationships/image" Target="../media/image47.png"/><Relationship Id="rId10" Type="http://schemas.openxmlformats.org/officeDocument/2006/relationships/image" Target="../media/image12.png"/><Relationship Id="rId19" Type="http://schemas.openxmlformats.org/officeDocument/2006/relationships/image" Target="../media/image43.png"/><Relationship Id="rId4" Type="http://schemas.openxmlformats.org/officeDocument/2006/relationships/image" Target="../media/image18.png"/><Relationship Id="rId9" Type="http://schemas.openxmlformats.org/officeDocument/2006/relationships/image" Target="../media/image11.png"/><Relationship Id="rId14" Type="http://schemas.openxmlformats.org/officeDocument/2006/relationships/image" Target="../media/image39.png"/><Relationship Id="rId22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15.png"/><Relationship Id="rId18" Type="http://schemas.openxmlformats.org/officeDocument/2006/relationships/image" Target="../media/image56.png"/><Relationship Id="rId3" Type="http://schemas.openxmlformats.org/officeDocument/2006/relationships/image" Target="../media/image2.png"/><Relationship Id="rId7" Type="http://schemas.openxmlformats.org/officeDocument/2006/relationships/image" Target="../media/image50.png"/><Relationship Id="rId12" Type="http://schemas.openxmlformats.org/officeDocument/2006/relationships/image" Target="../media/image13.png"/><Relationship Id="rId17" Type="http://schemas.openxmlformats.org/officeDocument/2006/relationships/image" Target="../media/image55.png"/><Relationship Id="rId2" Type="http://schemas.openxmlformats.org/officeDocument/2006/relationships/image" Target="../media/image17.png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12.png"/><Relationship Id="rId5" Type="http://schemas.openxmlformats.org/officeDocument/2006/relationships/image" Target="../media/image5.png"/><Relationship Id="rId15" Type="http://schemas.openxmlformats.org/officeDocument/2006/relationships/image" Target="../media/image53.png"/><Relationship Id="rId10" Type="http://schemas.openxmlformats.org/officeDocument/2006/relationships/image" Target="../media/image11.png"/><Relationship Id="rId19" Type="http://schemas.openxmlformats.org/officeDocument/2006/relationships/image" Target="../media/image57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24.png"/><Relationship Id="rId18" Type="http://schemas.openxmlformats.org/officeDocument/2006/relationships/image" Target="../media/image68.png"/><Relationship Id="rId3" Type="http://schemas.openxmlformats.org/officeDocument/2006/relationships/image" Target="../media/image2.png"/><Relationship Id="rId7" Type="http://schemas.openxmlformats.org/officeDocument/2006/relationships/image" Target="../media/image62.png"/><Relationship Id="rId12" Type="http://schemas.openxmlformats.org/officeDocument/2006/relationships/image" Target="../media/image15.png"/><Relationship Id="rId17" Type="http://schemas.openxmlformats.org/officeDocument/2006/relationships/image" Target="../media/image67.png"/><Relationship Id="rId2" Type="http://schemas.openxmlformats.org/officeDocument/2006/relationships/image" Target="../media/image59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image" Target="../media/image13.png"/><Relationship Id="rId5" Type="http://schemas.openxmlformats.org/officeDocument/2006/relationships/image" Target="../media/image5.png"/><Relationship Id="rId15" Type="http://schemas.openxmlformats.org/officeDocument/2006/relationships/image" Target="../media/image65.png"/><Relationship Id="rId10" Type="http://schemas.openxmlformats.org/officeDocument/2006/relationships/image" Target="../media/image12.png"/><Relationship Id="rId4" Type="http://schemas.openxmlformats.org/officeDocument/2006/relationships/image" Target="../media/image60.png"/><Relationship Id="rId9" Type="http://schemas.openxmlformats.org/officeDocument/2006/relationships/image" Target="../media/image11.png"/><Relationship Id="rId14" Type="http://schemas.openxmlformats.org/officeDocument/2006/relationships/image" Target="../media/image6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2.png"/><Relationship Id="rId3" Type="http://schemas.openxmlformats.org/officeDocument/2006/relationships/image" Target="../media/image2.png"/><Relationship Id="rId7" Type="http://schemas.openxmlformats.org/officeDocument/2006/relationships/image" Target="../media/image70.png"/><Relationship Id="rId12" Type="http://schemas.openxmlformats.org/officeDocument/2006/relationships/image" Target="../media/image15.png"/><Relationship Id="rId2" Type="http://schemas.openxmlformats.org/officeDocument/2006/relationships/image" Target="../media/image17.pn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11" Type="http://schemas.openxmlformats.org/officeDocument/2006/relationships/image" Target="../media/image13.png"/><Relationship Id="rId5" Type="http://schemas.openxmlformats.org/officeDocument/2006/relationships/image" Target="../media/image5.png"/><Relationship Id="rId15" Type="http://schemas.openxmlformats.org/officeDocument/2006/relationships/image" Target="../media/image73.png"/><Relationship Id="rId10" Type="http://schemas.openxmlformats.org/officeDocument/2006/relationships/image" Target="../media/image12.png"/><Relationship Id="rId4" Type="http://schemas.openxmlformats.org/officeDocument/2006/relationships/image" Target="../media/image48.png"/><Relationship Id="rId9" Type="http://schemas.openxmlformats.org/officeDocument/2006/relationships/image" Target="../media/image11.png"/><Relationship Id="rId1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64379D-3048-A9B8-CC34-5AAF52D0DA85}"/>
              </a:ext>
            </a:extLst>
          </p:cNvPr>
          <p:cNvSpPr txBox="1"/>
          <p:nvPr/>
        </p:nvSpPr>
        <p:spPr>
          <a:xfrm>
            <a:off x="1871133" y="1921931"/>
            <a:ext cx="8517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/>
              <a:t>MAIN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6DD332-BDBC-7280-264B-9B45DFF66036}"/>
              </a:ext>
            </a:extLst>
          </p:cNvPr>
          <p:cNvSpPr txBox="1"/>
          <p:nvPr/>
        </p:nvSpPr>
        <p:spPr>
          <a:xfrm>
            <a:off x="3801533" y="3361267"/>
            <a:ext cx="439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Freestyle for Design</a:t>
            </a:r>
          </a:p>
        </p:txBody>
      </p:sp>
    </p:spTree>
    <p:extLst>
      <p:ext uri="{BB962C8B-B14F-4D97-AF65-F5344CB8AC3E}">
        <p14:creationId xmlns:p14="http://schemas.microsoft.com/office/powerpoint/2010/main" val="1062575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" y="276225"/>
            <a:ext cx="11487150" cy="552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23925"/>
            <a:ext cx="11487150" cy="314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400" y="376237"/>
            <a:ext cx="2009775" cy="333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" y="6114752"/>
            <a:ext cx="11487150" cy="46702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25" y="371475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5" y="2944564"/>
            <a:ext cx="2771775" cy="87243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7550" y="2944564"/>
            <a:ext cx="2771775" cy="87243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425" y="3912244"/>
            <a:ext cx="2771775" cy="89148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7550" y="3912244"/>
            <a:ext cx="2771775" cy="89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5300" y="990600"/>
            <a:ext cx="438909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Prompt"/>
              </a:rPr>
              <a:t>ชื่อโครงการ: </a:t>
            </a:r>
            <a:r>
              <a:rPr sz="937" b="0" i="0" u="none">
                <a:solidFill>
                  <a:srgbClr val="1E293B"/>
                </a:solidFill>
                <a:latin typeface="Prompt SemiBold"/>
              </a:rPr>
              <a:t>[บล็อกกรอกชื่อโครงการของคุณ]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8690" y="990600"/>
            <a:ext cx="344849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Prompt"/>
              </a:rPr>
              <a:t>สังกัด/แผนก: </a:t>
            </a:r>
            <a:r>
              <a:rPr sz="937" b="0" i="0" u="none">
                <a:solidFill>
                  <a:srgbClr val="1E293B"/>
                </a:solidFill>
                <a:latin typeface="Prompt SemiBold"/>
              </a:rPr>
              <a:t>[ระบุฝ่าย/แผนก/บริษัทในเครือ ATTG]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1486" y="990600"/>
            <a:ext cx="313521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Prompt"/>
              </a:rPr>
              <a:t>ผู้พัฒนาหลัก: </a:t>
            </a:r>
            <a:r>
              <a:rPr sz="937" b="0" i="0" u="none">
                <a:solidFill>
                  <a:srgbClr val="1E293B"/>
                </a:solidFill>
                <a:latin typeface="Prompt SemiBold"/>
              </a:rPr>
              <a:t>[ระบุชื่อ-นามสกุล]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3875" y="1402556"/>
            <a:ext cx="104775" cy="1428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3900" y="1390650"/>
            <a:ext cx="10077450" cy="166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1" i="0" u="none">
                <a:solidFill>
                  <a:srgbClr val="1E40AF"/>
                </a:solidFill>
                <a:latin typeface="Prompt"/>
              </a:rPr>
              <a:t>คำแนะนำการกรอก:</a:t>
            </a:r>
            <a:r>
              <a:rPr sz="937" b="0" i="0" u="none">
                <a:solidFill>
                  <a:srgbClr val="1E40AF"/>
                </a:solidFill>
                <a:latin typeface="Prompt"/>
              </a:rPr>
              <a:t> กรอกตัวเลขเปรียบเทียบ ก่อนทำ-หลังทำ (Before vs After), ชั่วโมงที่ประหยัดได้จริง, มูลค่าเงิน (บาท), % Time Reduction, ปริมาณกระดาษที่ลดลง เทียบกับความพยายามที่ลงทุนไป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371475"/>
            <a:ext cx="49046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rompt"/>
              </a:rPr>
              <a:t>Business Results (ผลลัพธ์ทางธุรกิจที่วัดผลได้)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39325" y="476250"/>
            <a:ext cx="152400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" y="6214913"/>
            <a:ext cx="266700" cy="266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7250" y="6200477"/>
            <a:ext cx="6381750" cy="295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4"/>
              </a:lnSpc>
            </a:pPr>
            <a:r>
              <a:rPr sz="862" b="1" i="0" u="none">
                <a:solidFill>
                  <a:srgbClr val="166534"/>
                </a:solidFill>
                <a:latin typeface="Prompt"/>
              </a:rPr>
              <a:t>เกณฑ์คะแนนระดับสูงสุด (30–35 คะแนน):</a:t>
            </a:r>
            <a:r>
              <a:t>
</a:t>
            </a:r>
            <a:r>
              <a:rPr sz="862" b="0" i="0" u="none">
                <a:solidFill>
                  <a:srgbClr val="14532D"/>
                </a:solidFill>
                <a:latin typeface="Prompt"/>
              </a:rPr>
              <a:t> • ผลลัพธ์ชัดเจน มีตัวเลขและหลักฐานก่อน-หลังครบถ้วนสมบูรณ์ | • มีสูตรคำนวณที่มาโปร่งใส | • สร้างผลประโยชน์สูงต่อองค์กรหรือหลายแผนก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81725" y="1747837"/>
            <a:ext cx="5638800" cy="4252614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6737" y="6286351"/>
            <a:ext cx="123825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15400" y="3631108"/>
            <a:ext cx="171450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81837" y="3840658"/>
            <a:ext cx="3838575" cy="295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64"/>
              </a:lnSpc>
            </a:pPr>
            <a:r>
              <a:rPr sz="862" b="1" i="0" u="none">
                <a:solidFill>
                  <a:srgbClr val="FFFFFF"/>
                </a:solidFill>
                <a:latin typeface="Prompt"/>
              </a:rPr>
              <a:t>[บล็อกวางภาพหลักฐานผลลัพธ์ Before vs After]</a:t>
            </a:r>
            <a:r>
              <a:t>
</a:t>
            </a:r>
            <a:r>
              <a:rPr sz="862" b="0" i="0" u="none">
                <a:solidFill>
                  <a:srgbClr val="FFFFFF"/>
                </a:solidFill>
                <a:latin typeface="Prompt"/>
              </a:rPr>
              <a:t> ตัวอย่าง: กราฟเปรียบเทียบระยะเวลา, ตารางคำนวณ ROI หรือ Report จากระบบจริง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775" y="3058864"/>
            <a:ext cx="25050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E2E8F0"/>
                </a:solidFill>
                <a:latin typeface="Prompt"/>
              </a:rPr>
              <a:t>เวลาทำงานที่ลดลง (TIME SAVED)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5775" y="3239839"/>
            <a:ext cx="2505075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950" b="1" i="0" u="none">
                <a:solidFill>
                  <a:srgbClr val="FFFFFF"/>
                </a:solidFill>
                <a:latin typeface="Prompt"/>
              </a:rPr>
              <a:t>X,XXX ชม./ปี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775" y="3531244"/>
            <a:ext cx="25050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CBD5E1"/>
                </a:solidFill>
                <a:latin typeface="Prompt"/>
              </a:rPr>
              <a:t>ลดลง XX% (จาก XX เหลือ XX ชม./เดือน)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90900" y="3058864"/>
            <a:ext cx="25050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E2E8F0"/>
                </a:solidFill>
                <a:latin typeface="Prompt"/>
              </a:rPr>
              <a:t>มูลค่าประหยัดได้จริง (COST SAVED)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90900" y="3239839"/>
            <a:ext cx="2505075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950" b="1" i="0" u="none">
                <a:solidFill>
                  <a:srgbClr val="FFFFFF"/>
                </a:solidFill>
                <a:latin typeface="Prompt"/>
              </a:rPr>
              <a:t>฿XXX,XXX/ปี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90900" y="3531244"/>
            <a:ext cx="25050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CBD5E1"/>
                </a:solidFill>
                <a:latin typeface="Prompt"/>
              </a:rPr>
              <a:t>คำนวณจาก Man-Hour Cost + Material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300" y="4036069"/>
            <a:ext cx="24860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rompt"/>
              </a:rPr>
              <a:t>ลดการใช้กระดาษ / ทรัพยากร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300" y="4217044"/>
            <a:ext cx="2486025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950" b="1" i="0" u="none">
                <a:solidFill>
                  <a:srgbClr val="0F172A"/>
                </a:solidFill>
                <a:latin typeface="Prompt"/>
              </a:rPr>
              <a:t>XX,XXX แผ่น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300" y="4508450"/>
            <a:ext cx="24860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64748B"/>
                </a:solidFill>
                <a:latin typeface="Prompt"/>
              </a:rPr>
              <a:t>ประหยัดค่าพิมพ์/กระดาษ ฿XX,XXX บาท/ปี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0425" y="4036069"/>
            <a:ext cx="24860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rompt"/>
              </a:rPr>
              <a:t>ความถูกต้องของข้อมูล (ACCURACY)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0425" y="4217044"/>
            <a:ext cx="2486025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950" b="1" i="0" u="none">
                <a:solidFill>
                  <a:srgbClr val="0F172A"/>
                </a:solidFill>
                <a:latin typeface="Prompt"/>
              </a:rPr>
              <a:t>99.X%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0425" y="4508450"/>
            <a:ext cx="24860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64748B"/>
                </a:solidFill>
                <a:latin typeface="Prompt"/>
              </a:rPr>
              <a:t>Error Rate ลดลงจาก XX% เหลือ X%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" y="276225"/>
            <a:ext cx="11487150" cy="552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8350" y="376237"/>
            <a:ext cx="2028825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5" y="6114752"/>
            <a:ext cx="11487150" cy="46702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25" y="371475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25" y="1338262"/>
            <a:ext cx="3740050" cy="468123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5825" y="1338262"/>
            <a:ext cx="3740199" cy="468123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9375" y="1338262"/>
            <a:ext cx="3740050" cy="4681239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1300" y="2540049"/>
            <a:ext cx="3416200" cy="39112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875" y="1012031"/>
            <a:ext cx="10477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3900" y="1000125"/>
            <a:ext cx="9363075" cy="166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1" i="0" u="none">
                <a:solidFill>
                  <a:srgbClr val="1E40AF"/>
                </a:solidFill>
                <a:latin typeface="Prompt"/>
              </a:rPr>
              <a:t>คำแนะนำการกรอก:</a:t>
            </a:r>
            <a:r>
              <a:rPr sz="937" b="0" i="0" u="none">
                <a:solidFill>
                  <a:srgbClr val="1E40AF"/>
                </a:solidFill>
                <a:latin typeface="Prompt"/>
              </a:rPr>
              <a:t> แสดงปัญหาเดิม ปรับใช้เครื่องมือ TPS Office ให้เหมาะกับงานสำนักงาน/เอกสาร/อนุมัติ (ไม่ใช่สายการผลิตในโรงงาน) เช่น Yamazumi Chart, Muda 7 ประการ, 5-Why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71475"/>
            <a:ext cx="508672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rompt"/>
              </a:rPr>
              <a:t>Problem Analysis &amp; Root Cause (TPS Office)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20275" y="476250"/>
            <a:ext cx="15240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" y="6214913"/>
            <a:ext cx="266700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7250" y="6200477"/>
            <a:ext cx="6362700" cy="295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4"/>
              </a:lnSpc>
            </a:pPr>
            <a:r>
              <a:rPr sz="862" b="1" i="0" u="none">
                <a:solidFill>
                  <a:srgbClr val="166534"/>
                </a:solidFill>
                <a:latin typeface="Prompt"/>
              </a:rPr>
              <a:t>เกณฑ์คะแนนระดับสูงสุด (17–20 คะแนน):</a:t>
            </a:r>
            <a:r>
              <a:t>
</a:t>
            </a:r>
            <a:r>
              <a:rPr sz="862" b="0" i="0" u="none">
                <a:solidFill>
                  <a:srgbClr val="14532D"/>
                </a:solidFill>
                <a:latin typeface="Prompt"/>
              </a:rPr>
              <a:t> • วิเคราะห์ Root Cause อย่างเป็นระบบด้วยเครื่องมือ TPS Office ที่เหมาะสม | • ได้ประโยชน์จากการแก้ปัญหาที่ต้นตอจริง ไม่ใช่แค่แก้ปลายเหตุ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6737" y="6286351"/>
            <a:ext cx="123825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4350" y="1481137"/>
            <a:ext cx="285750" cy="2857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5350" y="1519237"/>
            <a:ext cx="22383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>
                <a:solidFill>
                  <a:srgbClr val="0F172A"/>
                </a:solidFill>
                <a:latin typeface="Prompt"/>
              </a:rPr>
              <a:t>1. ปัญหาเดิม &amp; ความสูญเสีย (Muda)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350" y="1909762"/>
            <a:ext cx="3416200" cy="165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334155"/>
                </a:solidFill>
                <a:latin typeface="Prompt"/>
              </a:rPr>
              <a:t>Pain Point ในงานสำนักงาน: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350" y="2132558"/>
            <a:ext cx="3416200" cy="33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334155"/>
                </a:solidFill>
                <a:latin typeface="Prompt"/>
              </a:rPr>
              <a:t>[กรอกปัญหา เช่น เอกสารอนุมัติล่าช้า คีย์ข้อมูลซ้ำซ้อนในหลายระบบ เกิดข้อผิดพลาดบ่อย]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350" y="2540049"/>
            <a:ext cx="3416200" cy="165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334155"/>
                </a:solidFill>
                <a:latin typeface="Prompt"/>
              </a:rPr>
              <a:t>Muda 7 ประการ (TPS Office):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350" y="2743795"/>
            <a:ext cx="1095375" cy="183058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76400" y="2743795"/>
            <a:ext cx="962025" cy="183058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05100" y="2743795"/>
            <a:ext cx="1133475" cy="18305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14350" y="2993528"/>
            <a:ext cx="3416200" cy="151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6"/>
              </a:lnSpc>
            </a:pPr>
            <a:r>
              <a:rPr sz="825" b="0" i="0" u="none">
                <a:solidFill>
                  <a:srgbClr val="64748B"/>
                </a:solidFill>
                <a:latin typeface="Prompt"/>
              </a:rPr>
              <a:t>[เลือกประเภท Muda สำนักงานที่ตรงกับโครงการ]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87750" y="1481137"/>
            <a:ext cx="285750" cy="2857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768750" y="1519237"/>
            <a:ext cx="1981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>
                <a:solidFill>
                  <a:srgbClr val="0F172A"/>
                </a:solidFill>
                <a:latin typeface="Prompt"/>
              </a:rPr>
              <a:t>2. เครื่องมือวิเคราะห์ (TPS Tools)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7750" y="1909762"/>
            <a:ext cx="3416349" cy="165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334155"/>
                </a:solidFill>
                <a:latin typeface="Prompt"/>
              </a:rPr>
              <a:t>เครื่องมือวิเคราะห์ที่ใช้: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87750" y="2762845"/>
            <a:ext cx="3416349" cy="254049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61300" y="1481137"/>
            <a:ext cx="285750" cy="2857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42300" y="1519237"/>
            <a:ext cx="19431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>
                <a:solidFill>
                  <a:srgbClr val="1E3A8A"/>
                </a:solidFill>
                <a:latin typeface="Prompt"/>
              </a:rPr>
              <a:t>3. สาเหตุที่แท้จริง (Root Cause)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1300" y="1909762"/>
            <a:ext cx="3416200" cy="165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1E3A8A"/>
                </a:solidFill>
                <a:latin typeface="Prompt"/>
              </a:rPr>
              <a:t>Root Cause ที่ค้นพบจริง: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1300" y="2132558"/>
            <a:ext cx="3416200" cy="33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334155"/>
                </a:solidFill>
                <a:latin typeface="Prompt"/>
              </a:rPr>
              <a:t>[กรอกสรุป Root Cause จริง เช่น กระบวนการอนุมัติพึ่งพาคนคีย์กระดาษ โดยไม่มีระบบ Verification อัตโนมัติ]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5312" y="1562100"/>
            <a:ext cx="123825" cy="1238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59188" y="1562100"/>
            <a:ext cx="142875" cy="12382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521100" y="2132558"/>
            <a:ext cx="3282999" cy="165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334155"/>
                </a:solidFill>
                <a:latin typeface="Prompt"/>
              </a:rPr>
              <a:t>Yamazumi Chart:</a:t>
            </a:r>
            <a:r>
              <a:rPr sz="900" b="0" i="0" u="none">
                <a:solidFill>
                  <a:srgbClr val="334155"/>
                </a:solidFill>
                <a:latin typeface="Prompt"/>
              </a:rPr>
              <a:t> จำแนก VA vs NVA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1100" y="2336303"/>
            <a:ext cx="3282999" cy="165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334155"/>
                </a:solidFill>
                <a:latin typeface="Prompt"/>
              </a:rPr>
              <a:t>5-Why Analysis:</a:t>
            </a:r>
            <a:r>
              <a:rPr sz="900" b="0" i="0" u="none">
                <a:solidFill>
                  <a:srgbClr val="334155"/>
                </a:solidFill>
                <a:latin typeface="Prompt"/>
              </a:rPr>
              <a:t> ถาม "ทำไม" 5 ระดับ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1100" y="2540049"/>
            <a:ext cx="3282999" cy="165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334155"/>
                </a:solidFill>
                <a:latin typeface="Prompt"/>
              </a:rPr>
              <a:t>Process Flow Mapping:</a:t>
            </a:r>
            <a:r>
              <a:rPr sz="900" b="0" i="0" u="none">
                <a:solidFill>
                  <a:srgbClr val="334155"/>
                </a:solidFill>
                <a:latin typeface="Prompt"/>
              </a:rPr>
              <a:t> หาจุดคอขวด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42262" y="1562100"/>
            <a:ext cx="123825" cy="12382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61300" y="2597199"/>
            <a:ext cx="11144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047857"/>
                </a:solidFill>
                <a:latin typeface="Prompt"/>
              </a:rPr>
              <a:t>แนวทางแก้ไขที่ตรงจุด: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1300" y="2772370"/>
            <a:ext cx="3416200" cy="158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862" b="0" i="0" u="none">
                <a:solidFill>
                  <a:srgbClr val="065F46"/>
                </a:solidFill>
                <a:latin typeface="Prompt"/>
              </a:rPr>
              <a:t>[เปลี่ยนเป็น Automation เพื่อขจัด NVA]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06800" y="2113508"/>
            <a:ext cx="381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2563EB"/>
                </a:solidFill>
                <a:latin typeface="Prompt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6800" y="2317253"/>
            <a:ext cx="381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2563EB"/>
                </a:solidFill>
                <a:latin typeface="Prompt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06800" y="2520999"/>
            <a:ext cx="381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2563EB"/>
                </a:solidFill>
                <a:latin typeface="Prompt"/>
              </a:rPr>
              <a:t>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" y="276225"/>
            <a:ext cx="11487150" cy="552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8350" y="376237"/>
            <a:ext cx="2028825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5" y="6114752"/>
            <a:ext cx="11487150" cy="46702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25" y="371475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25" y="1338262"/>
            <a:ext cx="5676900" cy="104566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5" y="2479178"/>
            <a:ext cx="5676900" cy="114880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1012031"/>
            <a:ext cx="104775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900" y="1000125"/>
            <a:ext cx="9229725" cy="166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1" i="0" u="none">
                <a:solidFill>
                  <a:srgbClr val="1E40AF"/>
                </a:solidFill>
                <a:latin typeface="Prompt"/>
              </a:rPr>
              <a:t>คำแนะนำการกรอก:</a:t>
            </a:r>
            <a:r>
              <a:rPr sz="937" b="0" i="0" u="none">
                <a:solidFill>
                  <a:srgbClr val="1E40AF"/>
                </a:solidFill>
                <a:latin typeface="Prompt"/>
              </a:rPr>
              <a:t> อธิบายแนวคิดนวัตกรรม การใช้ Power Apps / Power Automate / Power BI / MS Forms / SharePoint List / Excel หรือเครื่องมือดิจิทัลอื่นอย่างสร้างสรรค์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71475"/>
            <a:ext cx="428069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rompt"/>
              </a:rPr>
              <a:t>Innovation &amp; Technology Application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0275" y="476250"/>
            <a:ext cx="15240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6214913"/>
            <a:ext cx="2667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7250" y="6200477"/>
            <a:ext cx="5686425" cy="295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4"/>
              </a:lnSpc>
            </a:pPr>
            <a:r>
              <a:rPr sz="862" b="1" i="0" u="none">
                <a:solidFill>
                  <a:srgbClr val="166534"/>
                </a:solidFill>
                <a:latin typeface="Prompt"/>
              </a:rPr>
              <a:t>เกณฑ์คะแนนระดับสูงสุด (17–20 คะแนน):</a:t>
            </a:r>
            <a:r>
              <a:t>
</a:t>
            </a:r>
            <a:r>
              <a:rPr sz="862" b="0" i="0" u="none">
                <a:solidFill>
                  <a:srgbClr val="14532D"/>
                </a:solidFill>
                <a:latin typeface="Prompt"/>
              </a:rPr>
              <a:t> • ใช้เทคโนโลยีอย่างสร้างสรรค์ แก้ปัญหาด้วยมุมมองใหม่ | • มีความซับซ้อนและประสิทธิภาพสูง เป็นต้นแบบให้ทีมอื่นประยุกต์ต่อได้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1725" y="1357312"/>
            <a:ext cx="5638800" cy="464313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737" y="6286351"/>
            <a:ext cx="123825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91587" y="3435846"/>
            <a:ext cx="219075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86575" y="3645396"/>
            <a:ext cx="4229100" cy="295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64"/>
              </a:lnSpc>
            </a:pPr>
            <a:r>
              <a:rPr sz="862" b="1" i="0" u="none">
                <a:solidFill>
                  <a:srgbClr val="FFFFFF"/>
                </a:solidFill>
                <a:latin typeface="Prompt"/>
              </a:rPr>
              <a:t>[บล็อกวางภาพ System Architecture / Workflow Diagram]</a:t>
            </a:r>
            <a:r>
              <a:t>
</a:t>
            </a:r>
            <a:r>
              <a:rPr sz="862" b="0" i="0" u="none">
                <a:solidFill>
                  <a:srgbClr val="FFFFFF"/>
                </a:solidFill>
                <a:latin typeface="Prompt"/>
              </a:rPr>
              <a:t> แสดงขั้นตอนการทำงานของระบบ หน้าจอ Power Apps UI หรือ Flow ใน Power Automate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4350" y="1481137"/>
            <a:ext cx="285750" cy="2857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5350" y="1519237"/>
            <a:ext cx="24860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>
                <a:solidFill>
                  <a:srgbClr val="0F172A"/>
                </a:solidFill>
                <a:latin typeface="Prompt"/>
              </a:rPr>
              <a:t>แนวคิดนวัตกรรม (Innovative Concept)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350" y="1909762"/>
            <a:ext cx="5353050" cy="33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334155"/>
                </a:solidFill>
                <a:latin typeface="Prompt"/>
              </a:rPr>
              <a:t>[กรอกความคิดสร้างสรรค์/มุมมองใหม่ในการแก้ปัญหา ไม่ใช่แค่นำกระบวนการเดิมมาทำให้เป็นดิจิทัลในรูปแบบเดิม]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350" y="2622053"/>
            <a:ext cx="285750" cy="2857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95350" y="2660153"/>
            <a:ext cx="1981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>
                <a:solidFill>
                  <a:srgbClr val="0F172A"/>
                </a:solidFill>
                <a:latin typeface="Prompt"/>
              </a:rPr>
              <a:t>เทคโนโลยีที่เลือกใช้ (Tech Stack)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350" y="3319462"/>
            <a:ext cx="5353050" cy="165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334155"/>
                </a:solidFill>
                <a:latin typeface="Prompt"/>
              </a:rPr>
              <a:t>การทำงานร่วมกัน:</a:t>
            </a:r>
            <a:r>
              <a:rPr sz="900" b="0" i="0" u="none">
                <a:solidFill>
                  <a:srgbClr val="334155"/>
                </a:solidFill>
                <a:latin typeface="Prompt"/>
              </a:rPr>
              <a:t> [ระบุหน้าที่และการเชื่อมต่อของแต่ละเครื่องมือ]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5787" y="1562100"/>
            <a:ext cx="14287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5787" y="2703016"/>
            <a:ext cx="142875" cy="1238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4350" y="3050678"/>
            <a:ext cx="742950" cy="183058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3975" y="3050678"/>
            <a:ext cx="962025" cy="183058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52675" y="3050678"/>
            <a:ext cx="581025" cy="183058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00375" y="3050678"/>
            <a:ext cx="942975" cy="183058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10025" y="3050678"/>
            <a:ext cx="1257300" cy="1830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" y="276225"/>
            <a:ext cx="11487150" cy="552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6925" y="376237"/>
            <a:ext cx="2000250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5" y="6114752"/>
            <a:ext cx="11487150" cy="46702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25" y="371475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25" y="1338262"/>
            <a:ext cx="2786062" cy="468123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2787" y="1338262"/>
            <a:ext cx="2786062" cy="468123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150" y="1338262"/>
            <a:ext cx="2786062" cy="4681239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3512" y="1338262"/>
            <a:ext cx="2786062" cy="468123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5" y="1012031"/>
            <a:ext cx="10477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3900" y="1000125"/>
            <a:ext cx="8572500" cy="166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1" i="0" u="none">
                <a:solidFill>
                  <a:srgbClr val="1E40AF"/>
                </a:solidFill>
                <a:latin typeface="Prompt"/>
              </a:rPr>
              <a:t>คำแนะนำการกรอก:</a:t>
            </a:r>
            <a:r>
              <a:rPr sz="937" b="0" i="0" u="none">
                <a:solidFill>
                  <a:srgbClr val="1E40AF"/>
                </a:solidFill>
                <a:latin typeface="Prompt"/>
              </a:rPr>
              <a:t> แสดงความยั่งยืนของการใช้งานจริง มี System Owner, เอกสาร SOP, การดูแลระบบต่อเนื่อง และแผน/ตัวอย่างขยายผลไปยังหน่วยงานอื่นในเครือ ATTG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71475"/>
            <a:ext cx="365451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rompt"/>
              </a:rPr>
              <a:t>Sustainability &amp; Scalability Plan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48850" y="476250"/>
            <a:ext cx="15240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6214913"/>
            <a:ext cx="266700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7250" y="6200477"/>
            <a:ext cx="6162675" cy="295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4"/>
              </a:lnSpc>
            </a:pPr>
            <a:r>
              <a:rPr sz="862" b="1" i="0" u="none">
                <a:solidFill>
                  <a:srgbClr val="166534"/>
                </a:solidFill>
                <a:latin typeface="Prompt"/>
              </a:rPr>
              <a:t>เกณฑ์คะแนนระดับสูงสุด (9–10 คะแนน):</a:t>
            </a:r>
            <a:r>
              <a:t>
</a:t>
            </a:r>
            <a:r>
              <a:rPr sz="862" b="0" i="0" u="none">
                <a:solidFill>
                  <a:srgbClr val="14532D"/>
                </a:solidFill>
                <a:latin typeface="Prompt"/>
              </a:rPr>
              <a:t> • ใช้งานต่อเนื่องมั่นคง ได้ประโยชน์ระยะยาว | • มีเอกสาร/SOP ครบถ้วน | • มีแผน/ตัวอย่างการขยายผลไปแผนกอื่นหรือบริษัทในเครือ ATTG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737" y="6286351"/>
            <a:ext cx="123825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4350" y="1481137"/>
            <a:ext cx="285750" cy="2857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5350" y="1524000"/>
            <a:ext cx="10191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rompt"/>
              </a:rPr>
              <a:t>1. System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350" y="1909762"/>
            <a:ext cx="2462212" cy="33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334155"/>
                </a:solidFill>
                <a:latin typeface="Prompt"/>
              </a:rPr>
              <a:t>ผู้รับผิดชอบหลัก:</a:t>
            </a:r>
            <a:r>
              <a:t>
</a:t>
            </a:r>
            <a:r>
              <a:rPr sz="900" b="0" i="0" u="none">
                <a:solidFill>
                  <a:srgbClr val="334155"/>
                </a:solidFill>
                <a:latin typeface="Prompt"/>
              </a:rPr>
              <a:t> [ระบุชื่อ-ตำแหน่ง/ฝ่าย]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350" y="2288678"/>
            <a:ext cx="2462212" cy="496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334155"/>
                </a:solidFill>
                <a:latin typeface="Prompt"/>
              </a:rPr>
              <a:t>บทบาทดูแล:</a:t>
            </a:r>
            <a:r>
              <a:t>
</a:t>
            </a:r>
            <a:r>
              <a:rPr sz="900" b="0" i="0" u="none">
                <a:solidFill>
                  <a:srgbClr val="334155"/>
                </a:solidFill>
                <a:latin typeface="Prompt"/>
              </a:rPr>
              <a:t> [ดูแลแก้ไข Error, จัดการ Permission และอัปเดตระบบ]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14712" y="1481137"/>
            <a:ext cx="285750" cy="2857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795712" y="1524000"/>
            <a:ext cx="996421" cy="155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rompt"/>
              </a:rPr>
              <a:t>2. เอกสาร &amp; SOP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4712" y="1909762"/>
            <a:ext cx="2462212" cy="377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334155"/>
                </a:solidFill>
                <a:latin typeface="Prompt"/>
              </a:rPr>
              <a:t>สถานะ SOP:</a:t>
            </a:r>
            <a:r>
              <a:t>
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4712" y="2334666"/>
            <a:ext cx="2462212" cy="496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334155"/>
                </a:solidFill>
                <a:latin typeface="Prompt"/>
              </a:rPr>
              <a:t>การส่งต่อ:</a:t>
            </a:r>
            <a:r>
              <a:t>
</a:t>
            </a:r>
            <a:r>
              <a:rPr sz="900" b="0" i="0" u="none">
                <a:solidFill>
                  <a:srgbClr val="334155"/>
                </a:solidFill>
                <a:latin typeface="Prompt"/>
              </a:rPr>
              <a:t> [มี User Manual / Admin Manual และคลิปสอนใช้งาน]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15075" y="1481137"/>
            <a:ext cx="285750" cy="2857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96075" y="1524000"/>
            <a:ext cx="1047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rompt"/>
              </a:rPr>
              <a:t>3. การดูแลต่อเนื่อง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5075" y="1909762"/>
            <a:ext cx="2462212" cy="33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334155"/>
                </a:solidFill>
                <a:latin typeface="Prompt"/>
              </a:rPr>
              <a:t>แผน Maintenance:</a:t>
            </a:r>
            <a:r>
              <a:t>
</a:t>
            </a:r>
            <a:r>
              <a:rPr sz="900" b="0" i="0" u="none">
                <a:solidFill>
                  <a:srgbClr val="334155"/>
                </a:solidFill>
                <a:latin typeface="Prompt"/>
              </a:rPr>
              <a:t> [ตรวจสอบ Log รายเดือน / สำรองข้อมูล]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5075" y="2288678"/>
            <a:ext cx="2462212" cy="33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334155"/>
                </a:solidFill>
                <a:latin typeface="Prompt"/>
              </a:rPr>
              <a:t>ความเสี่ยง &amp; ป้องกัน:</a:t>
            </a:r>
            <a:r>
              <a:t>
</a:t>
            </a:r>
            <a:r>
              <a:rPr sz="900" b="0" i="0" u="none">
                <a:solidFill>
                  <a:srgbClr val="334155"/>
                </a:solidFill>
                <a:latin typeface="Prompt"/>
              </a:rPr>
              <a:t> [แผนรองรับเมื่อระบบขัดข้อง]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15437" y="1481137"/>
            <a:ext cx="285750" cy="2857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596437" y="1524000"/>
            <a:ext cx="10763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5F46"/>
                </a:solidFill>
                <a:latin typeface="Prompt"/>
              </a:rPr>
              <a:t>4. แผนการขยายผล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5437" y="1909762"/>
            <a:ext cx="2462212" cy="33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065F46"/>
                </a:solidFill>
                <a:latin typeface="Prompt"/>
              </a:rPr>
              <a:t>ขยายไปยัง:</a:t>
            </a:r>
            <a:r>
              <a:t>
</a:t>
            </a:r>
            <a:r>
              <a:rPr sz="900" b="0" i="0" u="none">
                <a:solidFill>
                  <a:srgbClr val="065F46"/>
                </a:solidFill>
                <a:latin typeface="Prompt"/>
              </a:rPr>
              <a:t> [ระบุแผนก/บริษัทในเครือ ATTG ที่นำไปใช้ต่อได้]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15437" y="2288678"/>
            <a:ext cx="2462212" cy="33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065F46"/>
                </a:solidFill>
                <a:latin typeface="Prompt"/>
              </a:rPr>
              <a:t>เป้าหมายเพิ่มเติม:</a:t>
            </a:r>
            <a:r>
              <a:t>
</a:t>
            </a:r>
            <a:r>
              <a:rPr sz="900" b="0" i="0" u="none">
                <a:solidFill>
                  <a:srgbClr val="065F46"/>
                </a:solidFill>
                <a:latin typeface="Prompt"/>
              </a:rPr>
              <a:t> [คาดว่าจะประหยัดเพิ่ม ฿XXX,XXX/ปี]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1025" y="1562100"/>
            <a:ext cx="152400" cy="1238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86150" y="1562100"/>
            <a:ext cx="142875" cy="1238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14712" y="2075408"/>
            <a:ext cx="971550" cy="183058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96037" y="1562100"/>
            <a:ext cx="123825" cy="1238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86875" y="1562100"/>
            <a:ext cx="142875" cy="12382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7875329-2FB7-5EF0-D44F-915CFD7E01D9}"/>
              </a:ext>
            </a:extLst>
          </p:cNvPr>
          <p:cNvSpPr txBox="1"/>
          <p:nvPr/>
        </p:nvSpPr>
        <p:spPr>
          <a:xfrm>
            <a:off x="4772819" y="1499130"/>
            <a:ext cx="996421" cy="155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h-TH" sz="1012" b="1">
                <a:solidFill>
                  <a:srgbClr val="C00000"/>
                </a:solidFill>
                <a:latin typeface="Prompt"/>
              </a:rPr>
              <a:t>ไม่บังคับ</a:t>
            </a:r>
            <a:endParaRPr sz="1012" b="1" i="0" u="none">
              <a:solidFill>
                <a:srgbClr val="C00000"/>
              </a:solidFill>
              <a:latin typeface="Promp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6F02F8-3AD9-9C23-F7F5-8E7742D47AB1}"/>
              </a:ext>
            </a:extLst>
          </p:cNvPr>
          <p:cNvSpPr txBox="1"/>
          <p:nvPr/>
        </p:nvSpPr>
        <p:spPr>
          <a:xfrm>
            <a:off x="7704665" y="1514216"/>
            <a:ext cx="996421" cy="155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h-TH" sz="1012" b="1">
                <a:solidFill>
                  <a:srgbClr val="C00000"/>
                </a:solidFill>
                <a:latin typeface="Prompt"/>
              </a:rPr>
              <a:t>ไม่บังคับ</a:t>
            </a:r>
            <a:endParaRPr sz="1012" b="1" i="0" u="none">
              <a:solidFill>
                <a:srgbClr val="C00000"/>
              </a:solidFill>
              <a:latin typeface="Promp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" y="276225"/>
            <a:ext cx="11487150" cy="552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0" y="376237"/>
            <a:ext cx="1933575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5" y="6114752"/>
            <a:ext cx="11487150" cy="46702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25" y="371475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25" y="1338262"/>
            <a:ext cx="5676900" cy="468123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675" y="1338262"/>
            <a:ext cx="5676900" cy="125893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1012031"/>
            <a:ext cx="104775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900" y="1000125"/>
            <a:ext cx="8010525" cy="166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1" i="0" u="none">
                <a:solidFill>
                  <a:srgbClr val="1E40AF"/>
                </a:solidFill>
                <a:latin typeface="Prompt"/>
              </a:rPr>
              <a:t>คำแนะนำการกรอก:</a:t>
            </a:r>
            <a:r>
              <a:rPr sz="937" b="0" i="0" u="none">
                <a:solidFill>
                  <a:srgbClr val="1E40AF"/>
                </a:solidFill>
                <a:latin typeface="Prompt"/>
              </a:rPr>
              <a:t> สัดส่วนคนลงมือทำจริงเทียบกับขนาดทีม (เช่น ทีม 2 คน ทำจริงทั้ง 2 คน = 100%) และไฮไลต์ </a:t>
            </a:r>
            <a:r>
              <a:rPr sz="937" b="1" i="0" u="none">
                <a:solidFill>
                  <a:srgbClr val="1E40AF"/>
                </a:solidFill>
                <a:latin typeface="Prompt"/>
              </a:rPr>
              <a:t>Citizen Developer หน้าใหม่</a:t>
            </a:r>
            <a:r>
              <a:rPr sz="937" b="0" i="0" u="none">
                <a:solidFill>
                  <a:srgbClr val="1E40AF"/>
                </a:solidFill>
                <a:latin typeface="Prompt"/>
              </a:rPr>
              <a:t> อย่างน้อย 1 คน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71475"/>
            <a:ext cx="45046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rompt"/>
              </a:rPr>
              <a:t>Team Participation &amp; Citizen Developer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5525" y="476250"/>
            <a:ext cx="15240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6214913"/>
            <a:ext cx="2667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7250" y="6200477"/>
            <a:ext cx="6124575" cy="295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4"/>
              </a:lnSpc>
            </a:pPr>
            <a:r>
              <a:rPr sz="862" b="1" i="0" u="none">
                <a:solidFill>
                  <a:srgbClr val="166534"/>
                </a:solidFill>
                <a:latin typeface="Prompt"/>
              </a:rPr>
              <a:t>เกณฑ์คะแนนระดับสูงสุด (5 คะแนนเต็ม):</a:t>
            </a:r>
            <a:r>
              <a:t>
</a:t>
            </a:r>
            <a:r>
              <a:rPr sz="862" b="0" i="0" u="none">
                <a:solidFill>
                  <a:srgbClr val="14532D"/>
                </a:solidFill>
                <a:latin typeface="Prompt"/>
              </a:rPr>
              <a:t> • ผู้ร่วมทำจริงคือคนส่วนใหญ่หรือทั้งหมดของทีม/แผนก | • มีอย่างน้อย 1 คนที่ใช้ Power Platform ต่อยอดเองได้โดยไม่ต้องพึ่งผู้นำเสนอ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6737" y="6286351"/>
            <a:ext cx="12382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4350" y="1481137"/>
            <a:ext cx="285750" cy="2857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5350" y="1519237"/>
            <a:ext cx="3114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>
                <a:solidFill>
                  <a:srgbClr val="0F172A"/>
                </a:solidFill>
                <a:latin typeface="Prompt"/>
              </a:rPr>
              <a:t>สมาชิกทีมและการลงมือทำจริง (Active Team Ratio)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14350" y="1909762"/>
          <a:ext cx="5353049" cy="10912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2801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F172A"/>
                          </a:solidFill>
                          <a:latin typeface="Prompt"/>
                        </a:rPr>
                        <a:t>ชื่อ-นามสกุล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F172A"/>
                          </a:solidFill>
                          <a:latin typeface="Prompt"/>
                        </a:rPr>
                        <a:t>บทบาท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F172A"/>
                          </a:solidFill>
                          <a:latin typeface="Prompt"/>
                        </a:rPr>
                        <a:t>สิ่งที่ลงมือทำจริง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801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Prompt SemiBold"/>
                        </a:rPr>
                        <a:t>1. [ระบุชื่อ-นามสกุล]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Prompt"/>
                        </a:rPr>
                        <a:t>Project Lead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Prompt"/>
                        </a:rPr>
                        <a:t>วิเคราะห์กระบวนการ &amp; ออกแบบ Flow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801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Prompt SemiBold"/>
                        </a:rPr>
                        <a:t>2. [ระบุชื่อ-นามสกุล]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Prompt"/>
                        </a:rPr>
                        <a:t>Citizen Dev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Prompt"/>
                        </a:rPr>
                        <a:t>สร้าง Power Apps UI &amp; Connectors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804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Prompt SemiBold"/>
                        </a:rPr>
                        <a:t>3. [ระบุชื่อ-นามสกุล]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Prompt"/>
                        </a:rPr>
                        <a:t>Process Owner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Prompt"/>
                        </a:rPr>
                        <a:t>ทดสอบ UAT &amp; จัดทำคู่มือ SOP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81725" y="2711499"/>
            <a:ext cx="5638800" cy="3288952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1025" y="1562100"/>
            <a:ext cx="1524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1481137"/>
            <a:ext cx="285750" cy="2857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05600" y="1519237"/>
            <a:ext cx="26193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>
                <a:solidFill>
                  <a:srgbClr val="5B21B6"/>
                </a:solidFill>
                <a:latin typeface="Prompt"/>
              </a:rPr>
              <a:t>Citizen Developer หน้าใหม่ (New Talent)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600" y="1909762"/>
            <a:ext cx="5353050" cy="165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4C1D95"/>
                </a:solidFill>
                <a:latin typeface="Prompt"/>
              </a:rPr>
              <a:t>ระบุชื่อ Citizen Dev หน้าใหม่:</a:t>
            </a:r>
            <a:r>
              <a:rPr sz="900" b="0" i="0" u="none">
                <a:solidFill>
                  <a:srgbClr val="4C1D95"/>
                </a:solidFill>
                <a:latin typeface="Prompt"/>
              </a:rPr>
              <a:t> [ระบุชื่อ-นามสกุล]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600" y="2123033"/>
            <a:ext cx="5353050" cy="33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4C1D95"/>
                </a:solidFill>
                <a:latin typeface="Prompt"/>
              </a:rPr>
              <a:t>ทักษะที่ได้รับการพัฒนา:</a:t>
            </a:r>
            <a:r>
              <a:rPr sz="900" b="0" i="0" u="none">
                <a:solidFill>
                  <a:srgbClr val="4C1D95"/>
                </a:solidFill>
                <a:latin typeface="Prompt"/>
              </a:rPr>
              <a:t> สามารถใช้ Power Platform ต่อยอด/แก้ไข Flow ได้เองจริง โดยไม่ต้องพึ่งพาผู้นำเสนอหรือ IT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15400" y="4186832"/>
            <a:ext cx="171450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629525" y="4396382"/>
            <a:ext cx="2743200" cy="1477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64"/>
              </a:lnSpc>
            </a:pPr>
            <a:r>
              <a:rPr sz="862" b="1" i="0" u="none">
                <a:solidFill>
                  <a:srgbClr val="FFFFFF"/>
                </a:solidFill>
                <a:latin typeface="Prompt"/>
              </a:rPr>
              <a:t>[บล็อกใส่ภาพถ่ายการทำงานร่วมกันในทีม / การสร้าง App]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15087" y="1562100"/>
            <a:ext cx="10477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" y="276225"/>
            <a:ext cx="11487150" cy="552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6925" y="376237"/>
            <a:ext cx="2000250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5" y="6114752"/>
            <a:ext cx="11487150" cy="46702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25" y="371475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25" y="1338262"/>
            <a:ext cx="5676900" cy="468123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675" y="1338262"/>
            <a:ext cx="5676900" cy="468123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1012031"/>
            <a:ext cx="104775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900" y="1000125"/>
            <a:ext cx="6324600" cy="166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1" i="0" u="none">
                <a:solidFill>
                  <a:srgbClr val="1E40AF"/>
                </a:solidFill>
                <a:latin typeface="Prompt"/>
              </a:rPr>
              <a:t>คำแนะนำการกรอก:</a:t>
            </a:r>
            <a:r>
              <a:rPr sz="937" b="0" i="0" u="none">
                <a:solidFill>
                  <a:srgbClr val="1E40AF"/>
                </a:solidFill>
                <a:latin typeface="Prompt"/>
              </a:rPr>
              <a:t> สรุปภาพรวมสำคัญให้ผู้บริหารเข้าใจใน 1 นาที พร้อมเตรียมข้อมูลรองรับคำถามของกรรมการอย่างตรงประเด็น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71475"/>
            <a:ext cx="444461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rompt"/>
              </a:rPr>
              <a:t>Executive Summary &amp; Q&amp;A Readiness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48850" y="476250"/>
            <a:ext cx="15240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6214913"/>
            <a:ext cx="2667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7250" y="6200477"/>
            <a:ext cx="5267325" cy="295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4"/>
              </a:lnSpc>
            </a:pPr>
            <a:r>
              <a:rPr sz="862" b="1" i="0" u="none">
                <a:solidFill>
                  <a:srgbClr val="166534"/>
                </a:solidFill>
                <a:latin typeface="Prompt"/>
              </a:rPr>
              <a:t>เกณฑ์คะแนนระดับสูงสุด (9–10 คะแนน):</a:t>
            </a:r>
            <a:r>
              <a:t>
</a:t>
            </a:r>
            <a:r>
              <a:rPr sz="862" b="0" i="0" u="none">
                <a:solidFill>
                  <a:srgbClr val="14532D"/>
                </a:solidFill>
                <a:latin typeface="Prompt"/>
              </a:rPr>
              <a:t> • นำเสนอชัดเจน กระชับ ตรงเวลา กรรมการได้ประโยชน์เต็มที่ | • ตอบคำถามได้ตรงประเด็นทุกข้อพร้อมข้อมูล Backup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6737" y="6286351"/>
            <a:ext cx="12382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2450" y="1481137"/>
            <a:ext cx="285750" cy="2857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3450" y="1519237"/>
            <a:ext cx="2743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>
                <a:solidFill>
                  <a:srgbClr val="1E3A8A"/>
                </a:solidFill>
                <a:latin typeface="Prompt"/>
              </a:rPr>
              <a:t>สรุปภาพรวมผู้บริหาร (Executive Summary)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62700" y="1481137"/>
            <a:ext cx="285750" cy="2857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43700" y="1519237"/>
            <a:ext cx="33718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>
                <a:solidFill>
                  <a:srgbClr val="065F46"/>
                </a:solidFill>
                <a:latin typeface="Prompt"/>
              </a:rPr>
              <a:t>คลังข้อมูลรองรับคำถามกรรมการ (Q&amp;A Backup Data)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3412" y="1562100"/>
            <a:ext cx="123825" cy="1238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2450" y="1900237"/>
            <a:ext cx="2057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0F172A"/>
                </a:solidFill>
                <a:latin typeface="Prompt"/>
              </a:rPr>
              <a:t>1. ความสำเร็จสำคัญ (Key Achievement):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450" y="2075408"/>
            <a:ext cx="5314950" cy="165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334155"/>
                </a:solidFill>
                <a:latin typeface="Prompt"/>
              </a:rPr>
              <a:t>[เปลี่ยนผ่านกระบวนการ X เป็นอัตโนมัติ 100% ประหยัดเวลา XX ชม./ปี และลดต้นทุน ฿XX,XXX]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450" y="2307728"/>
            <a:ext cx="23241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0F172A"/>
                </a:solidFill>
                <a:latin typeface="Prompt"/>
              </a:rPr>
              <a:t>2. จุดเปลี่ยนเชิงยุทธศาสตร์ (Strategic Value):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450" y="2482899"/>
            <a:ext cx="5314950" cy="165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334155"/>
                </a:solidFill>
                <a:latin typeface="Prompt"/>
              </a:rPr>
              <a:t>[ยกระดับคุณภาพข้อมูล เพิ่มความพึงพอใจของลูกค้าภายใน และสร้าง Citizen Dev เพิ่มขึ้น X คน]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450" y="2715220"/>
            <a:ext cx="1990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0F172A"/>
                </a:solidFill>
                <a:latin typeface="Prompt"/>
              </a:rPr>
              <a:t>3. สิ่งที่จะทำต่อ (Next Step Roadmap):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2450" y="2890391"/>
            <a:ext cx="5314950" cy="165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334155"/>
                </a:solidFill>
                <a:latin typeface="Prompt"/>
              </a:rPr>
              <a:t>[ต่อยอดระบบด้วย AI Module และขยายผลไปยังอีก 2 แผนกใน Q3/2026]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3662" y="1562100"/>
            <a:ext cx="123825" cy="1238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362700" y="1900237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065F46"/>
                </a:solidFill>
                <a:latin typeface="Prompt"/>
              </a:rPr>
              <a:t>Q1: สมมติฐานตัวเลข ROI และ Cost มาจากไหน?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2700" y="2075408"/>
            <a:ext cx="5314950" cy="158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862" b="0" i="0" u="none">
                <a:solidFill>
                  <a:srgbClr val="334155"/>
                </a:solidFill>
                <a:latin typeface="Prompt"/>
              </a:rPr>
              <a:t>คำตอบรองรับ: [คำนวณจากค่าแรงเฉลี่ย XX บาท/ชม. x ชั่วโมงที่ประหยัดได้จากการจับเวลา Audit]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2700" y="2291357"/>
            <a:ext cx="2657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065F46"/>
                </a:solidFill>
                <a:latin typeface="Prompt"/>
              </a:rPr>
              <a:t>Q2: ความปลอดภัยของข้อมูล (Security) เป็นอย่างไร?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2700" y="2466528"/>
            <a:ext cx="5314950" cy="158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862" b="0" i="0" u="none">
                <a:solidFill>
                  <a:srgbClr val="334155"/>
                </a:solidFill>
                <a:latin typeface="Prompt"/>
              </a:rPr>
              <a:t>คำตอบรองรับ: [ปฏิบัติตามนโยบาย IT Enterprise, Dataverse Security Roles]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2700" y="2682478"/>
            <a:ext cx="2171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065F46"/>
                </a:solidFill>
                <a:latin typeface="Prompt"/>
              </a:rPr>
              <a:t>Q3: หากเกิดปัญหา ใครเป็นผู้แก้ไขในอนาคต?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2700" y="2857648"/>
            <a:ext cx="5314950" cy="158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862" b="0" i="0" u="none">
                <a:solidFill>
                  <a:srgbClr val="334155"/>
                </a:solidFill>
                <a:latin typeface="Prompt"/>
              </a:rPr>
              <a:t>คำตอบรองรับ: [มี System Owner ประจำแผนก และมี IT Champion คอยดูแลเป็น Tier-2 Support]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00840-BEBB-6022-5706-B7E40A732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924129-4ACD-AADA-31C9-89D66DA79F80}"/>
              </a:ext>
            </a:extLst>
          </p:cNvPr>
          <p:cNvSpPr txBox="1"/>
          <p:nvPr/>
        </p:nvSpPr>
        <p:spPr>
          <a:xfrm>
            <a:off x="1871133" y="1921931"/>
            <a:ext cx="8517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/>
              <a:t>END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F46B68-A355-AADC-37CE-02D6D6FD4B68}"/>
              </a:ext>
            </a:extLst>
          </p:cNvPr>
          <p:cNvSpPr txBox="1"/>
          <p:nvPr/>
        </p:nvSpPr>
        <p:spPr>
          <a:xfrm>
            <a:off x="3801533" y="3361267"/>
            <a:ext cx="439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Freestyle for Design</a:t>
            </a:r>
          </a:p>
        </p:txBody>
      </p:sp>
    </p:spTree>
    <p:extLst>
      <p:ext uri="{BB962C8B-B14F-4D97-AF65-F5344CB8AC3E}">
        <p14:creationId xmlns:p14="http://schemas.microsoft.com/office/powerpoint/2010/main" val="2412887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b233e995-5a36-495e-8c93-54d4c749e0e0}" enabled="0" method="" siteId="{b233e995-5a36-495e-8c93-54d4c749e0e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1321</Words>
  <Application>Microsoft Office PowerPoint</Application>
  <PresentationFormat>Widescreen</PresentationFormat>
  <Paragraphs>106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Prompt</vt:lpstr>
      <vt:lpstr>Prompt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SANTI SAIJAM/ATA</cp:lastModifiedBy>
  <cp:revision>1</cp:revision>
  <dcterms:created xsi:type="dcterms:W3CDTF">2013-01-27T09:14:16Z</dcterms:created>
  <dcterms:modified xsi:type="dcterms:W3CDTF">2026-08-20T05:27:29Z</dcterms:modified>
  <cp:category/>
</cp:coreProperties>
</file>